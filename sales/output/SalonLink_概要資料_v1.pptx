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SalonLink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200" kern="0" dirty="0">
                <a:solidFill>
                  <a:srgbClr val="633F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FOR NAIL SALONS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0" y="3657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200" kern="0" dirty="0">
                <a:solidFill>
                  <a:srgbClr val="4A4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概要資料 v1.0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6858000" cy="0"/>
          </a:xfrm>
          <a:prstGeom prst="line">
            <a:avLst/>
          </a:prstGeom>
          <a:noFill/>
          <a:ln w="6350">
            <a:solidFill>
              <a:srgbClr val="D4C5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8016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400"/>
              </a:spcBef>
              <a:buNone/>
            </a:pPr>
            <a:r>
              <a:rPr lang="en-US" sz="28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広告に依存しないお店へ、
</a:t>
            </a:r>
            <a:endParaRPr lang="en-US" sz="28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800" i="1" dirty="0">
                <a:solidFill>
                  <a:srgbClr val="2A1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静かに切り替えていく。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292608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SalonLink は、HPB と併用しながら「リピート基盤」を整える、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ネイルサロン専用の顧客管理・予約一元化ツールです。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39319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800" kern="0" dirty="0">
                <a:solidFill>
                  <a:srgbClr val="633F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Problem ・ よくあるお悩み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 毎月の HPB 広告費が削れない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4590288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 新規は来るが、リピートに繋がらない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4882896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 紙カルテ・個人 LINE で情報が分散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5175504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 HPB ・ LINE ・ 自社の予約がダブルブッキング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5669280"/>
            <a:ext cx="6858000" cy="2377440"/>
          </a:xfrm>
          <a:prstGeom prst="rect">
            <a:avLst/>
          </a:prstGeom>
          <a:solidFill>
            <a:srgbClr val="F0E6E0"/>
          </a:solidFill>
          <a:ln w="6350">
            <a:solidFill>
              <a:srgbClr val="D4C5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580644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800" kern="0" dirty="0">
                <a:solidFill>
                  <a:srgbClr val="2A1A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Solution ・ 私たちが整えるもの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6263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33F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6263640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HPB 予約メールを 30 秒以内に自社カレンダーへ自動同期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05840" y="6464808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ダブルブッキング 0、予約衝突なし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670255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33F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6702552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LINE 公式アカウントと予約 ・ カルテを 1 本に統合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5840" y="690372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常連へのパーソナル配信が容易に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714146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33F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714146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ジェルカルテ・ネイリスト指名・休眠 90 日アラート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05840" y="7342632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ネイルサロン業務にぴたりと合う設計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758037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33F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05840" y="7580376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HPB → 自社の転換率を独自 KPI で可視化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5840" y="7781544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広告費を「下げる判断」ができる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10149840"/>
            <a:ext cx="6858000" cy="0"/>
          </a:xfrm>
          <a:prstGeom prst="line">
            <a:avLst/>
          </a:prstGeom>
          <a:noFill/>
          <a:ln w="6350">
            <a:solidFill>
              <a:srgbClr val="D4C5C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102870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spc="1200" kern="0" dirty="0">
                <a:solidFill>
                  <a:srgbClr val="4A4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Page 1 / 2 ・ SalonLink — for Hair Salons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SalonLink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114800" y="3657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概要資料 v1.0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6858000" cy="0"/>
          </a:xfrm>
          <a:prstGeom prst="line">
            <a:avLst/>
          </a:prstGeom>
          <a:noFill/>
          <a:ln w="6350">
            <a:solidFill>
              <a:srgbClr val="D4C5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800" kern="0" dirty="0">
                <a:solidFill>
                  <a:srgbClr val="633F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Features ・ 主な機能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1A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予約一元化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856232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HPB / LINE / 自社 HP の予約を 1 カレンダーで管理。CSV 一括取込対応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86200" y="160020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1A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LINE 公式連携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86200" y="1856232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友だち登録 → 予約 → 配信を 1 本のフローに。前日リマインド自動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237744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1A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ジェルカルテ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633472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ジェル銘柄・色番・ベース/トップ・アレルギー・自爪の状態を記録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86200" y="237744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1A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指名管理 (5 階層)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86200" y="2633472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トップ / シニア / スタンダード / ジュニア / アシスタント の指名料を自動計算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315468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1A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HPB 自動同期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3410712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予約メールを 30 秒以内に自社カレンダーへ反映 (専用 Webhook)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86200" y="315468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1A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離反予測 AI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86200" y="3410712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休眠 90 日超 ・ 来店頻度低下のお客様を抽出し、個別配信案を提案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393192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1A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ホットペッパー転換率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4187952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HPB 新規 → LINE/自社リピートの割合を独自 KPI で可視化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86200" y="393192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1A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デザインギャラリー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86200" y="4187952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ネイル作品を投稿 → お客様がそのまま指名予約に進める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49377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800" kern="0" dirty="0">
                <a:solidFill>
                  <a:srgbClr val="633F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Pricing ・ 料金プラン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5349240"/>
            <a:ext cx="2194560" cy="1645920"/>
          </a:xfrm>
          <a:prstGeom prst="rect">
            <a:avLst/>
          </a:prstGeom>
          <a:solidFill>
            <a:srgbClr val="F0E6E0"/>
          </a:solidFill>
          <a:ln w="6350">
            <a:solidFill>
              <a:srgbClr val="D4C5C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54864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" y="580644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800" kern="0" dirty="0">
                <a:solidFill>
                  <a:srgbClr val="4A4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 / 試験導入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02920" y="6126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¥0</a:t>
            </a:r>
            <a:pPr algn="ctr" indent="0" marL="0">
              <a:buNone/>
            </a:pPr>
            <a:r>
              <a:rPr lang="en-US" sz="800" dirty="0">
                <a:solidFill>
                  <a:srgbClr val="4A4A4A"/>
                </a:solidFill>
              </a:rPr>
              <a:t> /月 (税別)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02920" y="6537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 30 名 ・ 月 50 予約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697480" y="5349240"/>
            <a:ext cx="2194560" cy="1645920"/>
          </a:xfrm>
          <a:prstGeom prst="rect">
            <a:avLst/>
          </a:prstGeom>
          <a:solidFill>
            <a:srgbClr val="1A1A1A"/>
          </a:solidFill>
          <a:ln w="19050">
            <a:solidFill>
              <a:srgbClr val="633F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97480" y="5202936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400" kern="0" dirty="0">
                <a:solidFill>
                  <a:srgbClr val="8A65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RECOMMENDED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834640" y="54864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A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834640" y="580644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800" kern="0" dirty="0">
                <a:solidFill>
                  <a:srgbClr val="AA9F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個人〜小規模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834640" y="6126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A65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¥4,980</a:t>
            </a:r>
            <a:pPr algn="ctr" indent="0" marL="0">
              <a:buNone/>
            </a:pPr>
            <a:r>
              <a:rPr lang="en-US" sz="800" dirty="0">
                <a:solidFill>
                  <a:srgbClr val="AA9F88"/>
                </a:solidFill>
              </a:rPr>
              <a:t> /月 (税別)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2834640" y="6537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CFC4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 500 名 ・ LINE 連携 ・ カルテ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029200" y="5349240"/>
            <a:ext cx="2194560" cy="1645920"/>
          </a:xfrm>
          <a:prstGeom prst="rect">
            <a:avLst/>
          </a:prstGeom>
          <a:solidFill>
            <a:srgbClr val="F0E6E0"/>
          </a:solidFill>
          <a:ln w="6350">
            <a:solidFill>
              <a:srgbClr val="D4C5C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66360" y="54864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66360" y="580644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800" kern="0" dirty="0">
                <a:solidFill>
                  <a:srgbClr val="4A4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複数スタッフ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166360" y="6126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¥9,980</a:t>
            </a:r>
            <a:pPr algn="ctr" indent="0" marL="0">
              <a:buNone/>
            </a:pPr>
            <a:r>
              <a:rPr lang="en-US" sz="800" dirty="0">
                <a:solidFill>
                  <a:srgbClr val="4A4A4A"/>
                </a:solidFill>
              </a:rPr>
              <a:t> /月 (税別)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5166360" y="6537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顧客無制限 ・ AI 離反予測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65760" y="717804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4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初期費用 ¥0 / 月単位で解約可能 / 解約後 30 日間 CSV ダウンロード可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65760" y="76809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800" kern="0" dirty="0">
                <a:solidFill>
                  <a:srgbClr val="633F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Onboarding ・ 導入の流れ (最短 30 分)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65760" y="8092440"/>
            <a:ext cx="1645920" cy="960120"/>
          </a:xfrm>
          <a:prstGeom prst="rect">
            <a:avLst/>
          </a:prstGeom>
          <a:solidFill>
            <a:srgbClr val="F0E6E0"/>
          </a:solidFill>
          <a:ln w="6350">
            <a:solidFill>
              <a:srgbClr val="D4C5C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8183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33F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02920" y="85039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アカウント作成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02920" y="8732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無料、クレカ不要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103120" y="8092440"/>
            <a:ext cx="1645920" cy="960120"/>
          </a:xfrm>
          <a:prstGeom prst="rect">
            <a:avLst/>
          </a:prstGeom>
          <a:solidFill>
            <a:srgbClr val="F0E6E0"/>
          </a:solidFill>
          <a:ln w="6350">
            <a:solidFill>
              <a:srgbClr val="D4C5C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240280" y="8183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33F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2240280" y="85039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店舗情報の入力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240280" y="8732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営業時間 ・ メニュー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840480" y="8092440"/>
            <a:ext cx="1645920" cy="960120"/>
          </a:xfrm>
          <a:prstGeom prst="rect">
            <a:avLst/>
          </a:prstGeom>
          <a:solidFill>
            <a:srgbClr val="F0E6E0"/>
          </a:solidFill>
          <a:ln w="6350">
            <a:solidFill>
              <a:srgbClr val="D4C5C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977640" y="8183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33F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3977640" y="85039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HPB CSV を取込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977640" y="8732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既存顧客が引継ぎ可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577840" y="8092440"/>
            <a:ext cx="1645920" cy="960120"/>
          </a:xfrm>
          <a:prstGeom prst="rect">
            <a:avLst/>
          </a:prstGeom>
          <a:solidFill>
            <a:srgbClr val="F0E6E0"/>
          </a:solidFill>
          <a:ln w="6350">
            <a:solidFill>
              <a:srgbClr val="D4C5C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715000" y="8183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33F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5715000" y="85039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LINE 公式を接続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715000" y="8732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Channel ID 入力のみ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65760" y="9281160"/>
            <a:ext cx="6858000" cy="7772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8" name="Text 56"/>
          <p:cNvSpPr/>
          <p:nvPr/>
        </p:nvSpPr>
        <p:spPr>
          <a:xfrm>
            <a:off x="457200" y="9326880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400" kern="0" dirty="0">
                <a:solidFill>
                  <a:srgbClr val="8A6580"/>
                </a:solidFill>
              </a:rPr>
              <a:t>ご質問・デモのお申込みはこちらまで
</a:t>
            </a:r>
            <a:endParaRPr lang="en-US" sz="10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FA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shibahara.724@gmail.com   /   </a:t>
            </a:r>
            <a:pPr algn="ctr" indent="0" marL="0">
              <a:buNone/>
            </a:pPr>
            <a:r>
              <a:rPr lang="en-US" sz="1100" dirty="0">
                <a:solidFill>
                  <a:srgbClr val="8A6580"/>
                </a:solidFill>
              </a:rPr>
              <a:t>https://salon-link-web-production.up.railway.app/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365760" y="102870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spc="1200" kern="0" dirty="0">
                <a:solidFill>
                  <a:srgbClr val="4A4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Page 2 / 2 ・ © 2026 SalonLink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2026-06-01T05:01:57Z</dcterms:created>
  <dcterms:modified xsi:type="dcterms:W3CDTF">2026-06-01T05:01:57Z</dcterms:modified>
</cp:coreProperties>
</file>